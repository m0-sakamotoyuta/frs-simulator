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0" y="640080"/>
            <a:ext cx="3200400" cy="3200400"/>
          </a:xfrm>
          <a:prstGeom prst="ellipse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eiryo"/>
              </a:rPr>
              <a:t>3Dモデル位置合わせの仕組み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6E8FA"/>
                </a:solidFill>
                <a:latin typeface="Meiryo"/>
              </a:rPr>
              <a:t>RANSAC・ICP とスケール補正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処理の全体フロー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1945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1945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6384" y="1152144"/>
            <a:ext cx="39319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161288"/>
            <a:ext cx="3931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9488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27631"/>
            <a:ext cx="2011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Meiryo"/>
              </a:rPr>
              <a:t>主軸アライメント
（PCA）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20116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Meiryo"/>
              </a:rPr>
              <a:t>重心と主軸方向を
一致させる前処理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9455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097280"/>
            <a:ext cx="21945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097280"/>
            <a:ext cx="2194560" cy="50292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12463" y="1152144"/>
            <a:ext cx="39319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3" y="1161288"/>
            <a:ext cx="3931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D5FA5"/>
                </a:solidFill>
                <a:latin typeface="Meiry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627631"/>
            <a:ext cx="2011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Meiryo"/>
              </a:rPr>
              <a:t>RANSAC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514600"/>
            <a:ext cx="20116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Meiryo"/>
              </a:rPr>
              <a:t>特徴点マッチングによる
粗い位置合わせ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19455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097280"/>
            <a:ext cx="21945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097280"/>
            <a:ext cx="219456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38544" y="1152144"/>
            <a:ext cx="39319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1161288"/>
            <a:ext cx="3931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E4A"/>
                </a:solidFill>
                <a:latin typeface="Meiryo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627631"/>
            <a:ext cx="2011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Meiryo"/>
              </a:rPr>
              <a:t>ICP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14600"/>
            <a:ext cx="20116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Meiryo"/>
              </a:rPr>
              <a:t>点群全体を使った
精密な位置合わせ
・スケール補正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RANSAC（粗い位置合わせ）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754880" cy="365760"/>
          </a:xfrm>
          <a:prstGeom prst="rect">
            <a:avLst/>
          </a:prstGeom>
          <a:solidFill>
            <a:srgbClr val="D6E8FA"/>
          </a:solidFill>
          <a:ln w="127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5FA5"/>
                </a:solidFill>
                <a:latin typeface="Meiryo"/>
              </a:rPr>
              <a:t>Random Sample Consensus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5087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特徴量計算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087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点群から FPFH（Fast Point Feature Histograms）を計算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130552"/>
            <a:ext cx="384048" cy="384048"/>
          </a:xfrm>
          <a:prstGeom prst="ellipse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30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ランダムサンプリング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305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特徴量が類似する点のペアをランダムに選択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752344"/>
            <a:ext cx="384048" cy="384048"/>
          </a:xfrm>
          <a:prstGeom prst="ellipse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706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7523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変換行列の推定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5234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選択したペアから回転・並進・スケールを計算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374136"/>
            <a:ext cx="384048" cy="384048"/>
          </a:xfrm>
          <a:prstGeom prst="ellipse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9242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3741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Inlier 評価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37413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全点との対応数（Inlier数）でモデルを評価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3995928"/>
            <a:ext cx="384048" cy="384048"/>
          </a:xfrm>
          <a:prstGeom prst="ellipse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14215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995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最良解を採用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959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最も多くの Inlier を持つ変換を最終解とする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1005840"/>
            <a:ext cx="1920240" cy="3246120"/>
          </a:xfrm>
          <a:prstGeom prst="rect">
            <a:avLst/>
          </a:prstGeom>
          <a:solidFill>
            <a:srgbClr val="D6E8FA"/>
          </a:solidFill>
          <a:ln w="127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10058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5FA5"/>
                </a:solidFill>
                <a:latin typeface="Meiryo"/>
              </a:rPr>
              <a:t>特徴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4447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外れ値（誤対応）に強い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3591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初期位置によらない
  大域的探索が可能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2735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大まかな姿勢の
  初期値を提供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ICP（精密な位置合わせ）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solidFill>
            <a:srgbClr val="D6E8FA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  <a:latin typeface="Meiryo"/>
              </a:rPr>
              <a:t>Iterative Closest Point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508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最近傍点の対応付け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087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各点に対して相手点群の最も近い点を対応付け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58568"/>
            <a:ext cx="384048" cy="384048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768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2585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変換行列の計算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2585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対応点間の距離を最小化する変換（回転・並進・スケール）を計算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266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0083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変換の適用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00837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計算した変換行列を点群に適用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758183"/>
            <a:ext cx="384048" cy="384048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76471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75818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収束まで繰り返す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58183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変化量が閾値を下回るか最大反復回数に達するまで1〜3を繰り返す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1005840"/>
            <a:ext cx="1920240" cy="3246120"/>
          </a:xfrm>
          <a:prstGeom prst="rect">
            <a:avLst/>
          </a:prstGeom>
          <a:solidFill>
            <a:srgbClr val="D6E8FA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0058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4A"/>
                </a:solidFill>
                <a:latin typeface="Meiryo"/>
              </a:rPr>
              <a:t>特徴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4447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高精度なスケール補正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3591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点群全体を使った
  局所最適化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2735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RANSACの初期値で
  高精度化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RANSACでスケール補正が難しい理由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651760" cy="50292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06424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理由 ①  特徴点の対応付けが前提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19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FPFH特徴量の類似度で点を対応付ける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スケール差が大きいと同じ部位でも特徴量が変化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6382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正しい対応が取れず推定が不正確になる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05156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051560"/>
            <a:ext cx="26517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06424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理由 ②  ダウンサンプリングによる点群の粗さ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45919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計算速度のため点群を間引いて使用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04872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疎な点群ではスケール変化を検出しにくい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6382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細かい形状の違いが失われる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05156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051560"/>
            <a:ext cx="265176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1106424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理由 ③  変換の自由度と最適化の難しさ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645919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スケールを加えると変換行列の自由度が増加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404872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ランダムサンプリングで正しい
スケールを引き当てるのが困難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16382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外れ値が多いとスケール推定がぶれやすい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60520"/>
            <a:ext cx="8503920" cy="5943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788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"/>
              </a:rPr>
              <a:t>結論：RANSACの役割は「大まかな姿勢の初期値を与えること」。精密なスケール補正はICPが担う。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実際の処理結果の解釈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処理前</a:t>
            </a:r>
          </a:p>
        </p:txBody>
      </p:sp>
      <p:sp>
        <p:nvSpPr>
          <p:cNvPr id="7" name="Oval 6"/>
          <p:cNvSpPr/>
          <p:nvPr/>
        </p:nvSpPr>
        <p:spPr>
          <a:xfrm>
            <a:off x="384048" y="1508760"/>
            <a:ext cx="1005840" cy="9144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6192" y="1737360"/>
            <a:ext cx="1005840" cy="91440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Meiryo"/>
              </a:rPr>
              <a:t>2つのモデルが
離れた位置にある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05840"/>
            <a:ext cx="25603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241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RANSAC後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0" y="1508760"/>
            <a:ext cx="1005840" cy="91440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14800" y="1508760"/>
            <a:ext cx="1005840" cy="914400"/>
          </a:xfrm>
          <a:prstGeom prst="ellipse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Meiryo"/>
              </a:rPr>
              <a:t>形状の重なりは改善
スケール差が残る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05840"/>
            <a:ext cx="25603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241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ICP後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1508760"/>
            <a:ext cx="1005840" cy="91440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0" y="1508760"/>
            <a:ext cx="1005840" cy="9144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Meiryo"/>
              </a:rPr>
              <a:t>スケールを含めて
精密に一致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1783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783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solidFill>
            <a:srgbClr val="D6E8FA"/>
          </a:solidFill>
          <a:ln w="127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42816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Meiryo"/>
              </a:rPr>
              <a:t>→ RANSACは「位置合わせの道筋をつける役割」として正常に機能している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eiryo"/>
              </a:rPr>
              <a:t>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011680" cy="82296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RANSAC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005840"/>
            <a:ext cx="6217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051560"/>
            <a:ext cx="5989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A"/>
                </a:solidFill>
                <a:latin typeface="Meiryo"/>
              </a:rPr>
              <a:t>特徴点ベースの大域的探索。外れ値に強く初期位置によらないが、スケール補正の精度は限定的。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201168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21991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ICP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176272"/>
            <a:ext cx="6217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221991"/>
            <a:ext cx="5989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A"/>
                </a:solidFill>
                <a:latin typeface="Meiryo"/>
              </a:rPr>
              <a:t>最近傍点ベースの局所最適化。RANSACの初期値があることで高精度なスケール補正を実現。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46704"/>
            <a:ext cx="201168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92424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2段階の
組み合わせ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3346704"/>
            <a:ext cx="6217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392424"/>
            <a:ext cx="5989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A"/>
                </a:solidFill>
                <a:latin typeface="Meiryo"/>
              </a:rPr>
              <a:t>RANSACで粗く合わせ → ICPで精密に仕上げることで、スケール差のある3Dモデルの高精度な位置合わせを実現。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